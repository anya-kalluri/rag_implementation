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7" r:id="rId9"/>
    <p:sldId id="263" r:id="rId10"/>
    <p:sldId id="264" r:id="rId11"/>
    <p:sldId id="265" r:id="rId12"/>
    <p:sldId id="270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3C3D6-9D8F-FDCD-9CAF-50A8158DCA1D}" v="307" dt="2025-12-17T14:59:45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A13B0-0F56-45CA-B4F3-E9044FA05AB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9D7063C-212E-4199-B8BD-332B18F35104}">
      <dgm:prSet/>
      <dgm:spPr/>
      <dgm:t>
        <a:bodyPr/>
        <a:lstStyle/>
        <a:p>
          <a:r>
            <a:rPr lang="en-GB"/>
            <a:t>To design a low-cost and portable thermal monitoring system</a:t>
          </a:r>
          <a:endParaRPr lang="en-US"/>
        </a:p>
      </dgm:t>
    </dgm:pt>
    <dgm:pt modelId="{DB0F51A0-C167-4630-B8D3-9A70A65E2E6D}" type="parTrans" cxnId="{3C9E836E-41B9-4DB0-8C7E-5EDBB7315F2A}">
      <dgm:prSet/>
      <dgm:spPr/>
      <dgm:t>
        <a:bodyPr/>
        <a:lstStyle/>
        <a:p>
          <a:endParaRPr lang="en-US"/>
        </a:p>
      </dgm:t>
    </dgm:pt>
    <dgm:pt modelId="{E8516DD7-01B9-458C-A3C9-43787E643196}" type="sibTrans" cxnId="{3C9E836E-41B9-4DB0-8C7E-5EDBB7315F2A}">
      <dgm:prSet/>
      <dgm:spPr/>
      <dgm:t>
        <a:bodyPr/>
        <a:lstStyle/>
        <a:p>
          <a:endParaRPr lang="en-US"/>
        </a:p>
      </dgm:t>
    </dgm:pt>
    <dgm:pt modelId="{B7B6D823-98FD-4836-8A15-75D43FA292D9}">
      <dgm:prSet/>
      <dgm:spPr/>
      <dgm:t>
        <a:bodyPr/>
        <a:lstStyle/>
        <a:p>
          <a:r>
            <a:rPr lang="en-GB"/>
            <a:t>To capture real-time temperature data using an infrared thermal sensor</a:t>
          </a:r>
          <a:endParaRPr lang="en-US"/>
        </a:p>
      </dgm:t>
    </dgm:pt>
    <dgm:pt modelId="{8FA3A9DA-07A9-49E2-9500-6D6C69ACFFFE}" type="parTrans" cxnId="{9A744C30-9F34-40AC-81F9-5963080573F5}">
      <dgm:prSet/>
      <dgm:spPr/>
      <dgm:t>
        <a:bodyPr/>
        <a:lstStyle/>
        <a:p>
          <a:endParaRPr lang="en-US"/>
        </a:p>
      </dgm:t>
    </dgm:pt>
    <dgm:pt modelId="{5B6D33A8-AD36-4666-BFAF-7F04EFE39BE6}" type="sibTrans" cxnId="{9A744C30-9F34-40AC-81F9-5963080573F5}">
      <dgm:prSet/>
      <dgm:spPr/>
      <dgm:t>
        <a:bodyPr/>
        <a:lstStyle/>
        <a:p>
          <a:endParaRPr lang="en-US"/>
        </a:p>
      </dgm:t>
    </dgm:pt>
    <dgm:pt modelId="{AF16105C-2B5B-450A-A908-F851EFDE02F7}">
      <dgm:prSet/>
      <dgm:spPr/>
      <dgm:t>
        <a:bodyPr/>
        <a:lstStyle/>
        <a:p>
          <a:r>
            <a:rPr lang="en-GB"/>
            <a:t>To process thermal data using an ESP32-based embedded platform</a:t>
          </a:r>
          <a:endParaRPr lang="en-US"/>
        </a:p>
      </dgm:t>
    </dgm:pt>
    <dgm:pt modelId="{4EBD59D9-AB7C-40AA-B231-27CF3D789D13}" type="parTrans" cxnId="{FFBC122A-750B-445D-952C-D5DC82468272}">
      <dgm:prSet/>
      <dgm:spPr/>
      <dgm:t>
        <a:bodyPr/>
        <a:lstStyle/>
        <a:p>
          <a:endParaRPr lang="en-US"/>
        </a:p>
      </dgm:t>
    </dgm:pt>
    <dgm:pt modelId="{1D87A9C2-77AD-489B-9BCD-7DC985458976}" type="sibTrans" cxnId="{FFBC122A-750B-445D-952C-D5DC82468272}">
      <dgm:prSet/>
      <dgm:spPr/>
      <dgm:t>
        <a:bodyPr/>
        <a:lstStyle/>
        <a:p>
          <a:endParaRPr lang="en-US"/>
        </a:p>
      </dgm:t>
    </dgm:pt>
    <dgm:pt modelId="{13AEA62C-F4E4-4EC6-A533-C58AA7877545}">
      <dgm:prSet/>
      <dgm:spPr/>
      <dgm:t>
        <a:bodyPr/>
        <a:lstStyle/>
        <a:p>
          <a:r>
            <a:rPr lang="en-GB"/>
            <a:t>To visualize temperature variations as a color-based heatmap</a:t>
          </a:r>
          <a:endParaRPr lang="en-US"/>
        </a:p>
      </dgm:t>
    </dgm:pt>
    <dgm:pt modelId="{4893E4F1-D80E-46A9-B933-06F786AAAF96}" type="parTrans" cxnId="{AEBE3033-F5E5-4747-8C68-235DA41854F7}">
      <dgm:prSet/>
      <dgm:spPr/>
      <dgm:t>
        <a:bodyPr/>
        <a:lstStyle/>
        <a:p>
          <a:endParaRPr lang="en-US"/>
        </a:p>
      </dgm:t>
    </dgm:pt>
    <dgm:pt modelId="{9E736E16-452C-4967-9491-4DCAB4EBD22D}" type="sibTrans" cxnId="{AEBE3033-F5E5-4747-8C68-235DA41854F7}">
      <dgm:prSet/>
      <dgm:spPr/>
      <dgm:t>
        <a:bodyPr/>
        <a:lstStyle/>
        <a:p>
          <a:endParaRPr lang="en-US"/>
        </a:p>
      </dgm:t>
    </dgm:pt>
    <dgm:pt modelId="{B58DDA9B-7A66-4D6C-BCAE-3DB01FF29357}">
      <dgm:prSet/>
      <dgm:spPr/>
      <dgm:t>
        <a:bodyPr/>
        <a:lstStyle/>
        <a:p>
          <a:r>
            <a:rPr lang="en-GB"/>
            <a:t>To demonstrate an affordable alternative to conventional thermal cameras</a:t>
          </a:r>
          <a:endParaRPr lang="en-US"/>
        </a:p>
      </dgm:t>
    </dgm:pt>
    <dgm:pt modelId="{F31FD3C4-697F-49B9-8AD0-96FDD37B7CFF}" type="parTrans" cxnId="{E52DC55C-3C48-42EF-903D-A201857DFC99}">
      <dgm:prSet/>
      <dgm:spPr/>
      <dgm:t>
        <a:bodyPr/>
        <a:lstStyle/>
        <a:p>
          <a:endParaRPr lang="en-US"/>
        </a:p>
      </dgm:t>
    </dgm:pt>
    <dgm:pt modelId="{DFFCD187-8707-497C-B142-87335879AB58}" type="sibTrans" cxnId="{E52DC55C-3C48-42EF-903D-A201857DFC99}">
      <dgm:prSet/>
      <dgm:spPr/>
      <dgm:t>
        <a:bodyPr/>
        <a:lstStyle/>
        <a:p>
          <a:endParaRPr lang="en-US"/>
        </a:p>
      </dgm:t>
    </dgm:pt>
    <dgm:pt modelId="{308A4A85-3672-470D-B03D-5FBC0145E775}" type="pres">
      <dgm:prSet presAssocID="{5A9A13B0-0F56-45CA-B4F3-E9044FA05AB7}" presName="Name0" presStyleCnt="0">
        <dgm:presLayoutVars>
          <dgm:dir/>
          <dgm:animLvl val="lvl"/>
          <dgm:resizeHandles val="exact"/>
        </dgm:presLayoutVars>
      </dgm:prSet>
      <dgm:spPr/>
    </dgm:pt>
    <dgm:pt modelId="{7D726DD3-1EAF-4C02-8436-0C5465F82830}" type="pres">
      <dgm:prSet presAssocID="{B58DDA9B-7A66-4D6C-BCAE-3DB01FF29357}" presName="boxAndChildren" presStyleCnt="0"/>
      <dgm:spPr/>
    </dgm:pt>
    <dgm:pt modelId="{5ACF6035-D29D-4754-83FB-2C8CA241CF06}" type="pres">
      <dgm:prSet presAssocID="{B58DDA9B-7A66-4D6C-BCAE-3DB01FF29357}" presName="parentTextBox" presStyleLbl="node1" presStyleIdx="0" presStyleCnt="5"/>
      <dgm:spPr/>
    </dgm:pt>
    <dgm:pt modelId="{5A4AD4F1-2C87-4552-A8A4-84DBFE0C8C16}" type="pres">
      <dgm:prSet presAssocID="{9E736E16-452C-4967-9491-4DCAB4EBD22D}" presName="sp" presStyleCnt="0"/>
      <dgm:spPr/>
    </dgm:pt>
    <dgm:pt modelId="{DA936A14-4359-490E-AAA1-F2D90880FC43}" type="pres">
      <dgm:prSet presAssocID="{13AEA62C-F4E4-4EC6-A533-C58AA7877545}" presName="arrowAndChildren" presStyleCnt="0"/>
      <dgm:spPr/>
    </dgm:pt>
    <dgm:pt modelId="{F69BD2FC-5627-4917-A173-3D8CD3B9A7CD}" type="pres">
      <dgm:prSet presAssocID="{13AEA62C-F4E4-4EC6-A533-C58AA7877545}" presName="parentTextArrow" presStyleLbl="node1" presStyleIdx="1" presStyleCnt="5"/>
      <dgm:spPr/>
    </dgm:pt>
    <dgm:pt modelId="{78057751-9430-4B38-962D-EC5692BCC4D1}" type="pres">
      <dgm:prSet presAssocID="{1D87A9C2-77AD-489B-9BCD-7DC985458976}" presName="sp" presStyleCnt="0"/>
      <dgm:spPr/>
    </dgm:pt>
    <dgm:pt modelId="{50CE801F-1E94-410F-AEDC-A142E041EC31}" type="pres">
      <dgm:prSet presAssocID="{AF16105C-2B5B-450A-A908-F851EFDE02F7}" presName="arrowAndChildren" presStyleCnt="0"/>
      <dgm:spPr/>
    </dgm:pt>
    <dgm:pt modelId="{477A8B9E-725F-458F-910B-E7DE1EABD902}" type="pres">
      <dgm:prSet presAssocID="{AF16105C-2B5B-450A-A908-F851EFDE02F7}" presName="parentTextArrow" presStyleLbl="node1" presStyleIdx="2" presStyleCnt="5"/>
      <dgm:spPr/>
    </dgm:pt>
    <dgm:pt modelId="{479A2459-036E-43E8-819D-2D9535ACD3FD}" type="pres">
      <dgm:prSet presAssocID="{5B6D33A8-AD36-4666-BFAF-7F04EFE39BE6}" presName="sp" presStyleCnt="0"/>
      <dgm:spPr/>
    </dgm:pt>
    <dgm:pt modelId="{43424B2D-6E5D-4222-BB9E-91F84D95BF36}" type="pres">
      <dgm:prSet presAssocID="{B7B6D823-98FD-4836-8A15-75D43FA292D9}" presName="arrowAndChildren" presStyleCnt="0"/>
      <dgm:spPr/>
    </dgm:pt>
    <dgm:pt modelId="{7BEF9F09-ACF5-4E16-B526-C2297A1A8C9B}" type="pres">
      <dgm:prSet presAssocID="{B7B6D823-98FD-4836-8A15-75D43FA292D9}" presName="parentTextArrow" presStyleLbl="node1" presStyleIdx="3" presStyleCnt="5"/>
      <dgm:spPr/>
    </dgm:pt>
    <dgm:pt modelId="{D6B6A9C8-52D6-42B9-863D-9D67744E219B}" type="pres">
      <dgm:prSet presAssocID="{E8516DD7-01B9-458C-A3C9-43787E643196}" presName="sp" presStyleCnt="0"/>
      <dgm:spPr/>
    </dgm:pt>
    <dgm:pt modelId="{A794C08B-1C37-4A90-ABB3-EEE693557A02}" type="pres">
      <dgm:prSet presAssocID="{A9D7063C-212E-4199-B8BD-332B18F35104}" presName="arrowAndChildren" presStyleCnt="0"/>
      <dgm:spPr/>
    </dgm:pt>
    <dgm:pt modelId="{5E5F482C-F29C-4218-9CDF-7530A55A1FF4}" type="pres">
      <dgm:prSet presAssocID="{A9D7063C-212E-4199-B8BD-332B18F35104}" presName="parentTextArrow" presStyleLbl="node1" presStyleIdx="4" presStyleCnt="5"/>
      <dgm:spPr/>
    </dgm:pt>
  </dgm:ptLst>
  <dgm:cxnLst>
    <dgm:cxn modelId="{FFBC122A-750B-445D-952C-D5DC82468272}" srcId="{5A9A13B0-0F56-45CA-B4F3-E9044FA05AB7}" destId="{AF16105C-2B5B-450A-A908-F851EFDE02F7}" srcOrd="2" destOrd="0" parTransId="{4EBD59D9-AB7C-40AA-B231-27CF3D789D13}" sibTransId="{1D87A9C2-77AD-489B-9BCD-7DC985458976}"/>
    <dgm:cxn modelId="{9A744C30-9F34-40AC-81F9-5963080573F5}" srcId="{5A9A13B0-0F56-45CA-B4F3-E9044FA05AB7}" destId="{B7B6D823-98FD-4836-8A15-75D43FA292D9}" srcOrd="1" destOrd="0" parTransId="{8FA3A9DA-07A9-49E2-9500-6D6C69ACFFFE}" sibTransId="{5B6D33A8-AD36-4666-BFAF-7F04EFE39BE6}"/>
    <dgm:cxn modelId="{AEBE3033-F5E5-4747-8C68-235DA41854F7}" srcId="{5A9A13B0-0F56-45CA-B4F3-E9044FA05AB7}" destId="{13AEA62C-F4E4-4EC6-A533-C58AA7877545}" srcOrd="3" destOrd="0" parTransId="{4893E4F1-D80E-46A9-B933-06F786AAAF96}" sibTransId="{9E736E16-452C-4967-9491-4DCAB4EBD22D}"/>
    <dgm:cxn modelId="{E52DC55C-3C48-42EF-903D-A201857DFC99}" srcId="{5A9A13B0-0F56-45CA-B4F3-E9044FA05AB7}" destId="{B58DDA9B-7A66-4D6C-BCAE-3DB01FF29357}" srcOrd="4" destOrd="0" parTransId="{F31FD3C4-697F-49B9-8AD0-96FDD37B7CFF}" sibTransId="{DFFCD187-8707-497C-B142-87335879AB58}"/>
    <dgm:cxn modelId="{5F89D142-2F4C-4D8F-B285-96FF9A1DB44C}" type="presOf" srcId="{B58DDA9B-7A66-4D6C-BCAE-3DB01FF29357}" destId="{5ACF6035-D29D-4754-83FB-2C8CA241CF06}" srcOrd="0" destOrd="0" presId="urn:microsoft.com/office/officeart/2005/8/layout/process4"/>
    <dgm:cxn modelId="{3C9E836E-41B9-4DB0-8C7E-5EDBB7315F2A}" srcId="{5A9A13B0-0F56-45CA-B4F3-E9044FA05AB7}" destId="{A9D7063C-212E-4199-B8BD-332B18F35104}" srcOrd="0" destOrd="0" parTransId="{DB0F51A0-C167-4630-B8D3-9A70A65E2E6D}" sibTransId="{E8516DD7-01B9-458C-A3C9-43787E643196}"/>
    <dgm:cxn modelId="{CBB33B59-3B64-4070-931C-B229BCD27197}" type="presOf" srcId="{B7B6D823-98FD-4836-8A15-75D43FA292D9}" destId="{7BEF9F09-ACF5-4E16-B526-C2297A1A8C9B}" srcOrd="0" destOrd="0" presId="urn:microsoft.com/office/officeart/2005/8/layout/process4"/>
    <dgm:cxn modelId="{9EF12B7A-28FB-4881-A72E-320AA09AC17A}" type="presOf" srcId="{AF16105C-2B5B-450A-A908-F851EFDE02F7}" destId="{477A8B9E-725F-458F-910B-E7DE1EABD902}" srcOrd="0" destOrd="0" presId="urn:microsoft.com/office/officeart/2005/8/layout/process4"/>
    <dgm:cxn modelId="{493A5C97-9EB5-43F2-B1B2-C36C93E979FD}" type="presOf" srcId="{13AEA62C-F4E4-4EC6-A533-C58AA7877545}" destId="{F69BD2FC-5627-4917-A173-3D8CD3B9A7CD}" srcOrd="0" destOrd="0" presId="urn:microsoft.com/office/officeart/2005/8/layout/process4"/>
    <dgm:cxn modelId="{0025A2A1-DC50-4C89-881C-008D1FED346C}" type="presOf" srcId="{5A9A13B0-0F56-45CA-B4F3-E9044FA05AB7}" destId="{308A4A85-3672-470D-B03D-5FBC0145E775}" srcOrd="0" destOrd="0" presId="urn:microsoft.com/office/officeart/2005/8/layout/process4"/>
    <dgm:cxn modelId="{188C30A2-767E-4361-90D7-726BEE3FB558}" type="presOf" srcId="{A9D7063C-212E-4199-B8BD-332B18F35104}" destId="{5E5F482C-F29C-4218-9CDF-7530A55A1FF4}" srcOrd="0" destOrd="0" presId="urn:microsoft.com/office/officeart/2005/8/layout/process4"/>
    <dgm:cxn modelId="{8552A391-81B6-4559-939E-032E50F7E823}" type="presParOf" srcId="{308A4A85-3672-470D-B03D-5FBC0145E775}" destId="{7D726DD3-1EAF-4C02-8436-0C5465F82830}" srcOrd="0" destOrd="0" presId="urn:microsoft.com/office/officeart/2005/8/layout/process4"/>
    <dgm:cxn modelId="{6637A25C-293E-4862-8B1E-E3E1C6085DC6}" type="presParOf" srcId="{7D726DD3-1EAF-4C02-8436-0C5465F82830}" destId="{5ACF6035-D29D-4754-83FB-2C8CA241CF06}" srcOrd="0" destOrd="0" presId="urn:microsoft.com/office/officeart/2005/8/layout/process4"/>
    <dgm:cxn modelId="{18D00481-2A23-4CB7-9819-DBAD461B5362}" type="presParOf" srcId="{308A4A85-3672-470D-B03D-5FBC0145E775}" destId="{5A4AD4F1-2C87-4552-A8A4-84DBFE0C8C16}" srcOrd="1" destOrd="0" presId="urn:microsoft.com/office/officeart/2005/8/layout/process4"/>
    <dgm:cxn modelId="{AD9DCA67-FA2E-4617-9841-09856F06E903}" type="presParOf" srcId="{308A4A85-3672-470D-B03D-5FBC0145E775}" destId="{DA936A14-4359-490E-AAA1-F2D90880FC43}" srcOrd="2" destOrd="0" presId="urn:microsoft.com/office/officeart/2005/8/layout/process4"/>
    <dgm:cxn modelId="{39006F55-2B08-47E2-971E-4CAAAFC189A3}" type="presParOf" srcId="{DA936A14-4359-490E-AAA1-F2D90880FC43}" destId="{F69BD2FC-5627-4917-A173-3D8CD3B9A7CD}" srcOrd="0" destOrd="0" presId="urn:microsoft.com/office/officeart/2005/8/layout/process4"/>
    <dgm:cxn modelId="{30A165AB-4255-47A6-A978-E5AD0F3DCF52}" type="presParOf" srcId="{308A4A85-3672-470D-B03D-5FBC0145E775}" destId="{78057751-9430-4B38-962D-EC5692BCC4D1}" srcOrd="3" destOrd="0" presId="urn:microsoft.com/office/officeart/2005/8/layout/process4"/>
    <dgm:cxn modelId="{072235D6-511E-4850-9921-1C928B733EF8}" type="presParOf" srcId="{308A4A85-3672-470D-B03D-5FBC0145E775}" destId="{50CE801F-1E94-410F-AEDC-A142E041EC31}" srcOrd="4" destOrd="0" presId="urn:microsoft.com/office/officeart/2005/8/layout/process4"/>
    <dgm:cxn modelId="{A9CCF378-7DB3-4403-A837-088796DF4A00}" type="presParOf" srcId="{50CE801F-1E94-410F-AEDC-A142E041EC31}" destId="{477A8B9E-725F-458F-910B-E7DE1EABD902}" srcOrd="0" destOrd="0" presId="urn:microsoft.com/office/officeart/2005/8/layout/process4"/>
    <dgm:cxn modelId="{1D37D597-7FC9-41CC-9013-A6CE4D03FF8D}" type="presParOf" srcId="{308A4A85-3672-470D-B03D-5FBC0145E775}" destId="{479A2459-036E-43E8-819D-2D9535ACD3FD}" srcOrd="5" destOrd="0" presId="urn:microsoft.com/office/officeart/2005/8/layout/process4"/>
    <dgm:cxn modelId="{DEF140B7-3D79-4087-AEBE-0471B250B290}" type="presParOf" srcId="{308A4A85-3672-470D-B03D-5FBC0145E775}" destId="{43424B2D-6E5D-4222-BB9E-91F84D95BF36}" srcOrd="6" destOrd="0" presId="urn:microsoft.com/office/officeart/2005/8/layout/process4"/>
    <dgm:cxn modelId="{420C02A6-5E72-43D9-8145-F0EE29F31A90}" type="presParOf" srcId="{43424B2D-6E5D-4222-BB9E-91F84D95BF36}" destId="{7BEF9F09-ACF5-4E16-B526-C2297A1A8C9B}" srcOrd="0" destOrd="0" presId="urn:microsoft.com/office/officeart/2005/8/layout/process4"/>
    <dgm:cxn modelId="{F503E304-6425-4BBF-A88D-1914EE7D8190}" type="presParOf" srcId="{308A4A85-3672-470D-B03D-5FBC0145E775}" destId="{D6B6A9C8-52D6-42B9-863D-9D67744E219B}" srcOrd="7" destOrd="0" presId="urn:microsoft.com/office/officeart/2005/8/layout/process4"/>
    <dgm:cxn modelId="{7E6B7169-9285-4767-8627-2BD3C4461DE0}" type="presParOf" srcId="{308A4A85-3672-470D-B03D-5FBC0145E775}" destId="{A794C08B-1C37-4A90-ABB3-EEE693557A02}" srcOrd="8" destOrd="0" presId="urn:microsoft.com/office/officeart/2005/8/layout/process4"/>
    <dgm:cxn modelId="{E68032E1-6472-40FF-A36B-491D7AD96F33}" type="presParOf" srcId="{A794C08B-1C37-4A90-ABB3-EEE693557A02}" destId="{5E5F482C-F29C-4218-9CDF-7530A55A1FF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F6035-D29D-4754-83FB-2C8CA241CF06}">
      <dsp:nvSpPr>
        <dsp:cNvPr id="0" name=""/>
        <dsp:cNvSpPr/>
      </dsp:nvSpPr>
      <dsp:spPr>
        <a:xfrm>
          <a:off x="0" y="4795529"/>
          <a:ext cx="6833175" cy="7867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To demonstrate an affordable alternative to conventional thermal cameras</a:t>
          </a:r>
          <a:endParaRPr lang="en-US" sz="1800" kern="1200"/>
        </a:p>
      </dsp:txBody>
      <dsp:txXfrm>
        <a:off x="0" y="4795529"/>
        <a:ext cx="6833175" cy="786746"/>
      </dsp:txXfrm>
    </dsp:sp>
    <dsp:sp modelId="{F69BD2FC-5627-4917-A173-3D8CD3B9A7CD}">
      <dsp:nvSpPr>
        <dsp:cNvPr id="0" name=""/>
        <dsp:cNvSpPr/>
      </dsp:nvSpPr>
      <dsp:spPr>
        <a:xfrm rot="10800000">
          <a:off x="0" y="3597314"/>
          <a:ext cx="6833175" cy="121001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To visualize temperature variations as a color-based heatmap</a:t>
          </a:r>
          <a:endParaRPr lang="en-US" sz="1800" kern="1200"/>
        </a:p>
      </dsp:txBody>
      <dsp:txXfrm rot="10800000">
        <a:off x="0" y="3597314"/>
        <a:ext cx="6833175" cy="786232"/>
      </dsp:txXfrm>
    </dsp:sp>
    <dsp:sp modelId="{477A8B9E-725F-458F-910B-E7DE1EABD902}">
      <dsp:nvSpPr>
        <dsp:cNvPr id="0" name=""/>
        <dsp:cNvSpPr/>
      </dsp:nvSpPr>
      <dsp:spPr>
        <a:xfrm rot="10800000">
          <a:off x="0" y="2399099"/>
          <a:ext cx="6833175" cy="121001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To process thermal data using an ESP32-based embedded platform</a:t>
          </a:r>
          <a:endParaRPr lang="en-US" sz="1800" kern="1200"/>
        </a:p>
      </dsp:txBody>
      <dsp:txXfrm rot="10800000">
        <a:off x="0" y="2399099"/>
        <a:ext cx="6833175" cy="786232"/>
      </dsp:txXfrm>
    </dsp:sp>
    <dsp:sp modelId="{7BEF9F09-ACF5-4E16-B526-C2297A1A8C9B}">
      <dsp:nvSpPr>
        <dsp:cNvPr id="0" name=""/>
        <dsp:cNvSpPr/>
      </dsp:nvSpPr>
      <dsp:spPr>
        <a:xfrm rot="10800000">
          <a:off x="0" y="1200884"/>
          <a:ext cx="6833175" cy="1210016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To capture real-time temperature data using an infrared thermal sensor</a:t>
          </a:r>
          <a:endParaRPr lang="en-US" sz="1800" kern="1200"/>
        </a:p>
      </dsp:txBody>
      <dsp:txXfrm rot="10800000">
        <a:off x="0" y="1200884"/>
        <a:ext cx="6833175" cy="786232"/>
      </dsp:txXfrm>
    </dsp:sp>
    <dsp:sp modelId="{5E5F482C-F29C-4218-9CDF-7530A55A1FF4}">
      <dsp:nvSpPr>
        <dsp:cNvPr id="0" name=""/>
        <dsp:cNvSpPr/>
      </dsp:nvSpPr>
      <dsp:spPr>
        <a:xfrm rot="10800000">
          <a:off x="0" y="2669"/>
          <a:ext cx="6833175" cy="1210016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To design a low-cost and portable thermal monitoring system</a:t>
          </a:r>
          <a:endParaRPr lang="en-US" sz="1800" kern="1200"/>
        </a:p>
      </dsp:txBody>
      <dsp:txXfrm rot="10800000">
        <a:off x="0" y="2669"/>
        <a:ext cx="6833175" cy="786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25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2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87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05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1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52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8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53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7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91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8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30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8FA233-30DB-4D0A-BF51-78D03F79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B9DE3-1715-4EE3-99FA-C9BC12F5D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D0678-3E77-44F8-5B0B-183492BE3A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724" r="6" b="7593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1" y="799418"/>
            <a:ext cx="5613398" cy="2929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ESP32-Based Portable Thermal Monitoring &amp; Imaging System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08BD3D-CFD0-4A15-ACF6-EBC254CD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5999" y="3728775"/>
            <a:ext cx="5533671" cy="2299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Yatin – SE22UECE007</a:t>
            </a: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Anshul – SE22UECM013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Siddharth – SE22UECM016</a:t>
            </a:r>
          </a:p>
          <a:p>
            <a:pPr algn="r"/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D052F-1707-5FF5-4E7C-36F0BD65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971976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Garamond"/>
              </a:rPr>
              <a:t>Introduction: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F3C03-9B4D-45EB-B96C-994DBE3F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11C61-76F8-97BE-9B43-AE79178B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3282330"/>
            <a:ext cx="5189963" cy="2800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b="1" dirty="0">
                <a:ea typeface="+mn-lt"/>
                <a:cs typeface="+mn-lt"/>
              </a:rPr>
              <a:t>ESP32-Based Portable Thermal Monitoring &amp; Imaging System</a:t>
            </a:r>
            <a:endParaRPr lang="en-US" sz="16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Thermal imaging enables non-contact temperature monitoring</a:t>
            </a:r>
            <a:endParaRPr lang="en-GB" sz="16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Widely used in healthcare, security, and industrial inspection</a:t>
            </a:r>
            <a:endParaRPr lang="en-GB" sz="16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Commercial thermal cameras are expensive and limited in accessibility</a:t>
            </a:r>
            <a:endParaRPr lang="en-GB" sz="16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Low-cost and portable thermal imaging solutions are still scarce</a:t>
            </a:r>
            <a:endParaRPr lang="en-GB" sz="1600"/>
          </a:p>
          <a:p>
            <a:pPr>
              <a:lnSpc>
                <a:spcPct val="90000"/>
              </a:lnSpc>
            </a:pPr>
            <a:endParaRPr lang="en-GB" sz="1600"/>
          </a:p>
        </p:txBody>
      </p:sp>
      <p:pic>
        <p:nvPicPr>
          <p:cNvPr id="7" name="Graphic 6" descr="Low Temperature">
            <a:extLst>
              <a:ext uri="{FF2B5EF4-FFF2-40B4-BE49-F238E27FC236}">
                <a16:creationId xmlns:a16="http://schemas.microsoft.com/office/drawing/2014/main" id="{7C3152EC-4820-BE45-0CBF-FC1613E1AD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78" y="3104938"/>
            <a:ext cx="3031115" cy="3031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EA91AC-9CE2-4425-BF6B-E2FCBA1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96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12EE356-A629-4F1A-9BAD-E21B3B10D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690A7-C43D-DCFE-2D43-986231A4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5" y="976152"/>
            <a:ext cx="3555211" cy="5024920"/>
          </a:xfrm>
        </p:spPr>
        <p:txBody>
          <a:bodyPr anchor="ctr">
            <a:normAutofit/>
          </a:bodyPr>
          <a:lstStyle/>
          <a:p>
            <a:r>
              <a:rPr lang="en-GB" sz="5100" b="1" dirty="0">
                <a:latin typeface="Garamond"/>
              </a:rPr>
              <a:t>Objectives: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17483B-E60B-4F41-9448-D757B9FC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B44B66-1945-4638-8E9A-4F49493D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E7A1A7C4-76B8-B08A-D8F8-DEA4D0831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732121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200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326A8-09A9-531A-6D47-28C50300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971976"/>
          </a:xfrm>
        </p:spPr>
        <p:txBody>
          <a:bodyPr>
            <a:normAutofit/>
          </a:bodyPr>
          <a:lstStyle/>
          <a:p>
            <a:r>
              <a:rPr lang="en-GB" b="1" dirty="0">
                <a:latin typeface="Garamond"/>
                <a:ea typeface="+mj-lt"/>
                <a:cs typeface="+mj-lt"/>
              </a:rPr>
              <a:t>System Overview:</a:t>
            </a:r>
            <a:endParaRPr lang="en-US" b="1">
              <a:latin typeface="Garamond"/>
              <a:ea typeface="+mj-lt"/>
              <a:cs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F3C03-9B4D-45EB-B96C-994DBE3F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CA684-5498-61E1-6395-5605B6C7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3282330"/>
            <a:ext cx="5189963" cy="2800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Thermal data is captured from the surrounding environment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An infrared sensor detects temperature variations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ESP32 processes the data in real time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 TFT display visualizes the output as a heatmap</a:t>
            </a:r>
            <a:endParaRPr lang="en-GB" sz="2000"/>
          </a:p>
          <a:p>
            <a:endParaRPr lang="en-GB" sz="2000"/>
          </a:p>
        </p:txBody>
      </p:sp>
      <p:pic>
        <p:nvPicPr>
          <p:cNvPr id="7" name="Graphic 6" descr="Thermometer">
            <a:extLst>
              <a:ext uri="{FF2B5EF4-FFF2-40B4-BE49-F238E27FC236}">
                <a16:creationId xmlns:a16="http://schemas.microsoft.com/office/drawing/2014/main" id="{CA7372D4-941F-AC7F-30FD-955A2BE69A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78" y="3104938"/>
            <a:ext cx="3031115" cy="3031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EA91AC-9CE2-4425-BF6B-E2FCBA1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9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271E4-039A-20CE-F548-454CA179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9719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400" b="1" dirty="0">
                <a:latin typeface="Garamond"/>
                <a:ea typeface="+mj-lt"/>
                <a:cs typeface="+mj-lt"/>
              </a:rPr>
              <a:t>Hardware Components </a:t>
            </a:r>
            <a:br>
              <a:rPr lang="en-GB" sz="5400" b="1" dirty="0">
                <a:latin typeface="Garamond"/>
                <a:ea typeface="+mj-lt"/>
                <a:cs typeface="+mj-lt"/>
              </a:rPr>
            </a:br>
            <a:r>
              <a:rPr lang="en-GB" sz="5400" b="1" dirty="0">
                <a:latin typeface="Garamond"/>
                <a:ea typeface="+mj-lt"/>
                <a:cs typeface="+mj-lt"/>
              </a:rPr>
              <a:t>Used:</a:t>
            </a:r>
            <a:endParaRPr lang="en-US" sz="5400" b="1">
              <a:latin typeface="Garamond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EF3C03-9B4D-45EB-B96C-994DBE3F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2208-72C1-E8E0-2B6B-E5FD296C8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79" y="3238156"/>
            <a:ext cx="5189963" cy="2900284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endParaRPr lang="en-GB" sz="2000" dirty="0">
              <a:ea typeface="+mn-lt"/>
              <a:cs typeface="+mn-lt"/>
            </a:endParaRPr>
          </a:p>
          <a:p>
            <a:r>
              <a:rPr lang="en-GB" sz="2000" b="1" dirty="0">
                <a:ea typeface="+mn-lt"/>
                <a:cs typeface="+mn-lt"/>
              </a:rPr>
              <a:t>1.</a:t>
            </a:r>
            <a:r>
              <a:rPr lang="en-GB" sz="2000" dirty="0">
                <a:ea typeface="+mn-lt"/>
                <a:cs typeface="+mn-lt"/>
              </a:rPr>
              <a:t> ESP32 (Bharat Pi)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 dirty="0">
                <a:ea typeface="+mn-lt"/>
                <a:cs typeface="+mn-lt"/>
              </a:rPr>
              <a:t> The ESP32 acts as the main controller, processing thermal sensor data and driving the TFT display for real-time visualization.</a:t>
            </a:r>
            <a:endParaRPr lang="en-US"/>
          </a:p>
          <a:p>
            <a:r>
              <a:rPr lang="en-GB" sz="2000" b="1" dirty="0">
                <a:ea typeface="+mn-lt"/>
                <a:cs typeface="+mn-lt"/>
              </a:rPr>
              <a:t>2</a:t>
            </a:r>
            <a:r>
              <a:rPr lang="en-GB" sz="2000" dirty="0">
                <a:ea typeface="+mn-lt"/>
                <a:cs typeface="+mn-lt"/>
              </a:rPr>
              <a:t>. AMG8833 Infrared Thermal Sensor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 dirty="0">
                <a:ea typeface="+mn-lt"/>
                <a:cs typeface="+mn-lt"/>
              </a:rPr>
              <a:t> The AMG8833 measures non-contact temperature data in an 8×8 grid and provides real-time thermal readings to the ESP32.</a:t>
            </a:r>
            <a:endParaRPr lang="en-GB" dirty="0"/>
          </a:p>
          <a:p>
            <a:r>
              <a:rPr lang="en-GB" sz="2000" b="1" dirty="0">
                <a:ea typeface="+mn-lt"/>
                <a:cs typeface="+mn-lt"/>
              </a:rPr>
              <a:t>3.</a:t>
            </a:r>
            <a:r>
              <a:rPr lang="en-GB" sz="2000" dirty="0">
                <a:ea typeface="+mn-lt"/>
                <a:cs typeface="+mn-lt"/>
              </a:rPr>
              <a:t> 1.8-inch TFT Display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 dirty="0">
                <a:ea typeface="+mn-lt"/>
                <a:cs typeface="+mn-lt"/>
              </a:rPr>
              <a:t> The TFT display visualizes processed thermal data as a colour-based heatmap for easy interpretation.</a:t>
            </a:r>
            <a:endParaRPr lang="en-GB" dirty="0"/>
          </a:p>
          <a:p>
            <a:endParaRPr lang="en-GB" sz="2000" dirty="0"/>
          </a:p>
        </p:txBody>
      </p:sp>
      <p:pic>
        <p:nvPicPr>
          <p:cNvPr id="21" name="Graphic 20" descr="Processor">
            <a:extLst>
              <a:ext uri="{FF2B5EF4-FFF2-40B4-BE49-F238E27FC236}">
                <a16:creationId xmlns:a16="http://schemas.microsoft.com/office/drawing/2014/main" id="{05F10A32-BA8D-D1EC-DD31-F7E665FDAC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78" y="3104938"/>
            <a:ext cx="3031115" cy="3031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EA91AC-9CE2-4425-BF6B-E2FCBA1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73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8FA233-30DB-4D0A-BF51-78D03F79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5A1411-0C46-4437-890D-A6FADAA9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150365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B6CF-B3E2-4F30-BE50-FE174477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738102"/>
            <a:ext cx="10760586" cy="11174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dirty="0">
                <a:latin typeface="Garamond"/>
              </a:rPr>
              <a:t>ESP32 (Bharat Pi):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0D858-9844-4B2A-9D38-77BD00EC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Content Placeholder 3" descr="A circuit board with many wires&#10;&#10;AI-generated content may be incorrect.">
            <a:extLst>
              <a:ext uri="{FF2B5EF4-FFF2-40B4-BE49-F238E27FC236}">
                <a16:creationId xmlns:a16="http://schemas.microsoft.com/office/drawing/2014/main" id="{88D2C1BB-8668-D25B-9EFA-E725B2DC1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l="13933" r="7932" b="2"/>
          <a:stretch>
            <a:fillRect/>
          </a:stretch>
        </p:blipFill>
        <p:spPr>
          <a:xfrm>
            <a:off x="3096718" y="1938298"/>
            <a:ext cx="5513221" cy="4374624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199351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18025D-200B-4542-8AF9-7D9B2FFE6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2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343FA-28A8-0E89-8FE6-8AA26739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8411120" cy="1493871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Garamond"/>
              </a:rPr>
              <a:t>Working Principle</a:t>
            </a:r>
            <a:r>
              <a:rPr lang="en-GB" sz="7200" dirty="0"/>
              <a:t>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135360-3A7F-436F-B1EA-3628A78B5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C831-87B9-1542-5993-F7E0734A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8411119" cy="247003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The thermal sensor measures temperature without physical contact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ESP32 reads sensor data using the I²C protocol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Temperature values are processed and scaled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 color-based heatmap is generated and displayed</a:t>
            </a:r>
            <a:endParaRPr lang="en-GB" sz="2000"/>
          </a:p>
          <a:p>
            <a:endParaRPr lang="en-GB" sz="2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45D80-B59B-4760-8DF9-AECD5304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104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6"/>
            <a:ext cx="11147071" cy="147664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9F8F7-8049-DA50-9616-A05F1E8F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022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>
                <a:latin typeface="Garamond"/>
              </a:rPr>
              <a:t>Software Implementation: 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CDD0E7-BDD6-41F4-8AAB-088A2E8D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D697462-3E8E-B6D7-C382-EAFC050FC2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5194" b="3"/>
          <a:stretch>
            <a:fillRect/>
          </a:stretch>
        </p:blipFill>
        <p:spPr>
          <a:xfrm>
            <a:off x="481007" y="1993515"/>
            <a:ext cx="5511628" cy="437462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199351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FBF1-544F-2E4F-F261-B04581EB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171" y="2247497"/>
            <a:ext cx="5416227" cy="412047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Required libraries are included to handle I²C communication, SPI communication, graphics rendering, and thermal sensor interfacing</a:t>
            </a:r>
            <a:endParaRPr lang="en-US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Pin definitions are set to interface the ESP32 with the TFT display and thermal sensor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The ESP32 initializes the TFT display and AMG8833 sensor during the setup phase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Thermal pixel data is continuously read from the AMG8833 sensor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Minimum and maximum temperature values are dynamically calculated for each frame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Bilinear interpolation is applied to smooth the low-resolution thermal data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Temperature values are mapped to a </a:t>
            </a:r>
            <a:r>
              <a:rPr lang="en-GB" sz="1400" err="1">
                <a:ea typeface="+mn-lt"/>
                <a:cs typeface="+mn-lt"/>
              </a:rPr>
              <a:t>color</a:t>
            </a:r>
            <a:r>
              <a:rPr lang="en-GB" sz="1400" dirty="0">
                <a:ea typeface="+mn-lt"/>
                <a:cs typeface="+mn-lt"/>
              </a:rPr>
              <a:t> gradient ranging from blue (cool) to red (hot)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400" dirty="0">
                <a:ea typeface="+mn-lt"/>
                <a:cs typeface="+mn-lt"/>
              </a:rPr>
              <a:t>The processed thermal image is rendered in real time on the TFT display</a:t>
            </a:r>
            <a:endParaRPr lang="en-GB" sz="1400" dirty="0"/>
          </a:p>
          <a:p>
            <a:pPr>
              <a:lnSpc>
                <a:spcPct val="90000"/>
              </a:lnSpc>
            </a:pPr>
            <a:endParaRPr lang="en-GB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8B45F5-E162-4AF7-9E46-A4290969B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32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33D47-EDF0-CB57-FD8B-7A8754E6E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8411120" cy="2679840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Garamond"/>
                <a:ea typeface="+mj-lt"/>
                <a:cs typeface="+mj-lt"/>
              </a:rPr>
              <a:t>Temperature Mapping &amp; Visualization:</a:t>
            </a:r>
            <a:endParaRPr lang="en-US" sz="5400" b="1" dirty="0">
              <a:latin typeface="Garamond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6E0447-6953-43C4-BE27-D078414DB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1F6D7D2-4B63-4EE9-AFDF-C1EB129BD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3918853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E85C3A-38DE-4651-AFEE-6938577E5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1ADD-1DF3-E218-43E8-D1A5AAFA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4112928"/>
            <a:ext cx="8411119" cy="2088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Each pixel represents an individual temperature value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Cooler regions appear in blue shades</a:t>
            </a:r>
            <a:endParaRPr lang="en-GB" sz="2000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Warmer regions appear in red shades</a:t>
            </a:r>
            <a:endParaRPr lang="en-GB" sz="2000" dirty="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Gradual colour transitions indicate temperature differences</a:t>
            </a:r>
            <a:endParaRPr lang="en-GB" sz="2000" dirty="0"/>
          </a:p>
          <a:p>
            <a:endParaRPr lang="en-GB" sz="2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335A77-4B4F-4AEA-A10E-39EB79D77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62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09927-D280-CA2E-8CE2-478C8C32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971976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Garamond"/>
                <a:ea typeface="+mj-lt"/>
                <a:cs typeface="+mj-lt"/>
              </a:rPr>
              <a:t>Results &amp; Observations:</a:t>
            </a:r>
            <a:endParaRPr lang="en-US" sz="5400" b="1" dirty="0">
              <a:latin typeface="Garamond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F3C03-9B4D-45EB-B96C-994DBE3F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6F93-DC63-0556-F85E-304DDECD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3282330"/>
            <a:ext cx="5189963" cy="2800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Real-time thermal visualization achieved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Clear identification of heat sources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Smooth and stable display output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Portable and low-cost design validated</a:t>
            </a:r>
            <a:endParaRPr lang="en-GB" sz="2000"/>
          </a:p>
          <a:p>
            <a:endParaRPr lang="en-GB" sz="2000"/>
          </a:p>
        </p:txBody>
      </p:sp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2BD417FB-9E9B-6F83-D556-61245066C2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78" y="3104938"/>
            <a:ext cx="3031115" cy="3031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EA91AC-9CE2-4425-BF6B-E2FCBA1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18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4601E-C167-6119-67DC-6054E886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971976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Garamond"/>
                <a:ea typeface="+mj-lt"/>
                <a:cs typeface="+mj-lt"/>
              </a:rPr>
              <a:t>Applications &amp; Limitations:</a:t>
            </a:r>
            <a:endParaRPr lang="en-US" sz="5400" b="1" dirty="0">
              <a:latin typeface="Garamond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F3C03-9B4D-45EB-B96C-994DBE3F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A9B8-7557-D00A-155E-F34E7B6E1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3282330"/>
            <a:ext cx="5189963" cy="2800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b="1">
                <a:ea typeface="+mn-lt"/>
                <a:cs typeface="+mn-lt"/>
              </a:rPr>
              <a:t>Applications</a:t>
            </a:r>
            <a:endParaRPr lang="en-US" sz="17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Temperature monitoring</a:t>
            </a:r>
            <a:endParaRPr lang="en-GB" sz="17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Human presence detection</a:t>
            </a:r>
            <a:endParaRPr lang="en-GB" sz="17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Educational demonstrations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 b="1">
                <a:ea typeface="+mn-lt"/>
                <a:cs typeface="+mn-lt"/>
              </a:rPr>
              <a:t>Limitations</a:t>
            </a:r>
            <a:endParaRPr lang="en-GB" sz="17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Low spatial resolution due to 8 × 8 sensor</a:t>
            </a:r>
            <a:endParaRPr lang="en-GB" sz="17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Limited accuracy compared to commercial systems</a:t>
            </a:r>
            <a:endParaRPr lang="en-GB" sz="1700"/>
          </a:p>
          <a:p>
            <a:pPr>
              <a:lnSpc>
                <a:spcPct val="90000"/>
              </a:lnSpc>
            </a:pPr>
            <a:endParaRPr lang="en-GB" sz="1700"/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8258EE5E-B0E1-4446-8A24-499B2C1E48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78" y="3104938"/>
            <a:ext cx="3031115" cy="3031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EA91AC-9CE2-4425-BF6B-E2FCBA1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23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759A6-06A6-0A89-A60F-F775D6CB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8411120" cy="149387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400" b="1" dirty="0">
                <a:latin typeface="Garamond"/>
              </a:rPr>
              <a:t>Conclusion &amp; Future Scope</a:t>
            </a:r>
            <a:r>
              <a:rPr lang="en-GB" sz="5000" dirty="0"/>
              <a:t>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135360-3A7F-436F-B1EA-3628A78B5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2177-A5A7-20EE-5E60-114F0CFC0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8411119" cy="247003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 compact thermal monitoring system was successfully developed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Demonstrates effective use of embedded systems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Affordable alternative to commercial thermal cameras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Future improvements include higher-resolution sensors and wireless visualization</a:t>
            </a:r>
            <a:endParaRPr lang="en-GB" sz="2000"/>
          </a:p>
          <a:p>
            <a:endParaRPr lang="en-GB" sz="2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45D80-B59B-4760-8DF9-AECD5304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44695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LevelVTI</vt:lpstr>
      <vt:lpstr>ESP32-Based Portable Thermal Monitoring &amp; Imaging System</vt:lpstr>
      <vt:lpstr>Introduction:</vt:lpstr>
      <vt:lpstr>Objectives:</vt:lpstr>
      <vt:lpstr>System Overview:</vt:lpstr>
      <vt:lpstr>Hardware Components  Used:</vt:lpstr>
      <vt:lpstr>ESP32 (Bharat Pi):</vt:lpstr>
      <vt:lpstr>Working Principle:</vt:lpstr>
      <vt:lpstr>Software Implementation: </vt:lpstr>
      <vt:lpstr>Temperature Mapping &amp; Visualization:</vt:lpstr>
      <vt:lpstr>Results &amp; Observations:</vt:lpstr>
      <vt:lpstr>Applications &amp; Limitations:</vt:lpstr>
      <vt:lpstr>Conclusion &amp; Future Scope: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171</cp:revision>
  <dcterms:created xsi:type="dcterms:W3CDTF">2025-12-17T12:20:49Z</dcterms:created>
  <dcterms:modified xsi:type="dcterms:W3CDTF">2025-12-17T14:59:54Z</dcterms:modified>
</cp:coreProperties>
</file>